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Open Sans ExtraBold"/>
      <p:bold r:id="rId18"/>
      <p:boldItalic r:id="rId19"/>
    </p:embeddedFont>
    <p:embeddedFont>
      <p:font typeface="Open Sans Light"/>
      <p:regular r:id="rId20"/>
      <p:bold r:id="rId21"/>
      <p:italic r:id="rId22"/>
      <p:boldItalic r:id="rId23"/>
    </p:embeddedFon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Light-regular.fntdata"/><Relationship Id="rId22" Type="http://schemas.openxmlformats.org/officeDocument/2006/relationships/font" Target="fonts/OpenSansLight-italic.fntdata"/><Relationship Id="rId21" Type="http://schemas.openxmlformats.org/officeDocument/2006/relationships/font" Target="fonts/OpenSansLight-bold.fntdata"/><Relationship Id="rId24" Type="http://schemas.openxmlformats.org/officeDocument/2006/relationships/font" Target="fonts/OpenSans-regular.fntdata"/><Relationship Id="rId23" Type="http://schemas.openxmlformats.org/officeDocument/2006/relationships/font" Target="fonts/OpenSans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italic.fntdata"/><Relationship Id="rId25" Type="http://schemas.openxmlformats.org/officeDocument/2006/relationships/font" Target="fonts/OpenSans-bold.fntdata"/><Relationship Id="rId27"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OpenSansExtraBold-boldItalic.fntdata"/><Relationship Id="rId18" Type="http://schemas.openxmlformats.org/officeDocument/2006/relationships/font" Target="fonts/OpenSans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d54e683cb_0_16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77" name="Google Shape;77;g3ad54e683cb_0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g3ad54e683cb_0_1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d54e683cb_1_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85" name="Google Shape;85;g3ad54e683cb_1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d54e683cb_1_1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91" name="Google Shape;91;g3ad54e683cb_1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d54e683cb_0_3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02" name="Google Shape;102;g3ad54e683cb_0_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d54e683cb_1_1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11" name="Google Shape;111;g3ad54e683cb_1_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d54e683cb_0_3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30" name="Google Shape;130;g3ad54e683cb_0_3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d85d4df8c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37" name="Google Shape;137;g3ad85d4df8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d54e683cb_0_3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47" name="Google Shape;147;g3ad54e683cb_0_3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d54e683cb_0_3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54" name="Google Shape;154;g3ad54e683cb_0_3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d54e683cb_0_3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63" name="Google Shape;163;g3ad54e683cb_0_3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d54e683cb_0_3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0.5 min</a:t>
            </a:r>
            <a:endParaRPr/>
          </a:p>
        </p:txBody>
      </p:sp>
      <p:sp>
        <p:nvSpPr>
          <p:cNvPr id="170" name="Google Shape;170;g3ad54e683cb_0_3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2de8d056c_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79" name="Google Shape;179;g3b2de8d056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g3b2de8d056c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0" name="Shape 50"/>
        <p:cNvGrpSpPr/>
        <p:nvPr/>
      </p:nvGrpSpPr>
      <p:grpSpPr>
        <a:xfrm>
          <a:off x="0" y="0"/>
          <a:ext cx="0" cy="0"/>
          <a:chOff x="0" y="0"/>
          <a:chExt cx="0" cy="0"/>
        </a:xfrm>
      </p:grpSpPr>
      <p:pic>
        <p:nvPicPr>
          <p:cNvPr descr="Picture 6" id="51" name="Google Shape;51;p1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2" name="Google Shape;52;p13"/>
          <p:cNvSpPr/>
          <p:nvPr/>
        </p:nvSpPr>
        <p:spPr>
          <a:xfrm>
            <a:off x="3729625" y="0"/>
            <a:ext cx="5414400" cy="5143500"/>
          </a:xfrm>
          <a:prstGeom prst="rect">
            <a:avLst/>
          </a:prstGeom>
          <a:solidFill>
            <a:srgbClr val="F2F2F2"/>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chemeClr val="dk1"/>
              </a:buClr>
              <a:buSzPts val="1400"/>
              <a:buFont typeface="Open Sans"/>
              <a:buNone/>
            </a:pPr>
            <a:r>
              <a:t/>
            </a:r>
            <a:endParaRPr b="0" i="0" sz="1400" u="none" cap="none" strike="noStrike">
              <a:solidFill>
                <a:srgbClr val="000000"/>
              </a:solidFill>
              <a:latin typeface="Calibri"/>
              <a:ea typeface="Calibri"/>
              <a:cs typeface="Calibri"/>
              <a:sym typeface="Calibri"/>
            </a:endParaRPr>
          </a:p>
        </p:txBody>
      </p:sp>
      <p:cxnSp>
        <p:nvCxnSpPr>
          <p:cNvPr id="53" name="Google Shape;53;p13"/>
          <p:cNvCxnSpPr/>
          <p:nvPr/>
        </p:nvCxnSpPr>
        <p:spPr>
          <a:xfrm>
            <a:off x="4332173" y="2808962"/>
            <a:ext cx="4265400" cy="0"/>
          </a:xfrm>
          <a:prstGeom prst="straightConnector1">
            <a:avLst/>
          </a:prstGeom>
          <a:noFill/>
          <a:ln cap="flat" cmpd="sng" w="12700">
            <a:solidFill>
              <a:srgbClr val="A5A5A5"/>
            </a:solidFill>
            <a:prstDash val="solid"/>
            <a:miter lim="800000"/>
            <a:headEnd len="sm" w="sm" type="none"/>
            <a:tailEnd len="sm" w="sm" type="none"/>
          </a:ln>
        </p:spPr>
      </p:cxnSp>
      <p:sp>
        <p:nvSpPr>
          <p:cNvPr id="54" name="Google Shape;54;p13"/>
          <p:cNvSpPr txBox="1"/>
          <p:nvPr>
            <p:ph idx="1" type="body"/>
          </p:nvPr>
        </p:nvSpPr>
        <p:spPr>
          <a:xfrm>
            <a:off x="4299347" y="1713310"/>
            <a:ext cx="4298100" cy="9000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23850" lvl="4" marL="2286000" algn="l">
              <a:lnSpc>
                <a:spcPct val="90000"/>
              </a:lnSpc>
              <a:spcBef>
                <a:spcPts val="800"/>
              </a:spcBef>
              <a:spcAft>
                <a:spcPts val="0"/>
              </a:spcAft>
              <a:buClr>
                <a:srgbClr val="5D5D5D"/>
              </a:buClr>
              <a:buSzPts val="15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55" name="Google Shape;55;p13"/>
          <p:cNvSpPr txBox="1"/>
          <p:nvPr>
            <p:ph idx="2" type="body"/>
          </p:nvPr>
        </p:nvSpPr>
        <p:spPr>
          <a:xfrm>
            <a:off x="4341019" y="3020102"/>
            <a:ext cx="2452800" cy="253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1200"/>
              <a:buNone/>
              <a:defRPr b="1" sz="1200" cap="none">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pic>
        <p:nvPicPr>
          <p:cNvPr id="56" name="Google Shape;56;p13"/>
          <p:cNvPicPr preferRelativeResize="0"/>
          <p:nvPr/>
        </p:nvPicPr>
        <p:blipFill rotWithShape="1">
          <a:blip r:embed="rId3">
            <a:alphaModFix/>
          </a:blip>
          <a:srcRect b="0" l="0" r="0" t="0"/>
          <a:stretch/>
        </p:blipFill>
        <p:spPr>
          <a:xfrm>
            <a:off x="1953407" y="1917166"/>
            <a:ext cx="1558578" cy="989752"/>
          </a:xfrm>
          <a:prstGeom prst="rect">
            <a:avLst/>
          </a:prstGeom>
          <a:noFill/>
          <a:ln>
            <a:noFill/>
          </a:ln>
        </p:spPr>
      </p:pic>
      <p:sp>
        <p:nvSpPr>
          <p:cNvPr id="57" name="Google Shape;57;p13"/>
          <p:cNvSpPr txBox="1"/>
          <p:nvPr>
            <p:ph idx="3" type="body"/>
          </p:nvPr>
        </p:nvSpPr>
        <p:spPr>
          <a:xfrm>
            <a:off x="4336418" y="3336808"/>
            <a:ext cx="4444500" cy="484500"/>
          </a:xfrm>
          <a:prstGeom prst="rect">
            <a:avLst/>
          </a:prstGeom>
          <a:noFill/>
          <a:ln>
            <a:noFill/>
          </a:ln>
        </p:spPr>
        <p:txBody>
          <a:bodyPr anchorCtr="0" anchor="t" bIns="34275" lIns="34275" spcFirstLastPara="1" rIns="34275" wrap="square" tIns="34275">
            <a:noAutofit/>
          </a:bodyPr>
          <a:lstStyle>
            <a:lvl1pPr indent="-228600" lvl="0" marL="457200" algn="l">
              <a:lnSpc>
                <a:spcPct val="100000"/>
              </a:lnSpc>
              <a:spcBef>
                <a:spcPts val="0"/>
              </a:spcBef>
              <a:spcAft>
                <a:spcPts val="0"/>
              </a:spcAft>
              <a:buClr>
                <a:srgbClr val="5D5D5D"/>
              </a:buClr>
              <a:buSzPts val="1400"/>
              <a:buNone/>
              <a:defRPr sz="1400">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_1">
    <p:spTree>
      <p:nvGrpSpPr>
        <p:cNvPr id="58" name="Shape 58"/>
        <p:cNvGrpSpPr/>
        <p:nvPr/>
      </p:nvGrpSpPr>
      <p:grpSpPr>
        <a:xfrm>
          <a:off x="0" y="0"/>
          <a:ext cx="0" cy="0"/>
          <a:chOff x="0" y="0"/>
          <a:chExt cx="0" cy="0"/>
        </a:xfrm>
      </p:grpSpPr>
      <p:sp>
        <p:nvSpPr>
          <p:cNvPr id="59" name="Google Shape;59;p14"/>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Open Sans"/>
              <a:ea typeface="Open Sans"/>
              <a:cs typeface="Open Sans"/>
              <a:sym typeface="Open Sans"/>
            </a:endParaRPr>
          </a:p>
        </p:txBody>
      </p:sp>
      <p:sp>
        <p:nvSpPr>
          <p:cNvPr id="60" name="Google Shape;60;p14"/>
          <p:cNvSpPr/>
          <p:nvPr/>
        </p:nvSpPr>
        <p:spPr>
          <a:xfrm>
            <a:off x="2209800" y="895350"/>
            <a:ext cx="3429000" cy="306300"/>
          </a:xfrm>
          <a:prstGeom prst="rect">
            <a:avLst/>
          </a:prstGeom>
          <a:noFill/>
          <a:ln>
            <a:noFill/>
          </a:ln>
        </p:spPr>
      </p:sp>
      <p:sp>
        <p:nvSpPr>
          <p:cNvPr descr="_Plaid-Digital_FINAL-NEW.png" id="61" name="Google Shape;61;p14"/>
          <p:cNvSpPr/>
          <p:nvPr/>
        </p:nvSpPr>
        <p:spPr>
          <a:xfrm>
            <a:off x="457200" y="0"/>
            <a:ext cx="790500" cy="5143500"/>
          </a:xfrm>
          <a:prstGeom prst="rect">
            <a:avLst/>
          </a:prstGeom>
          <a:noFill/>
          <a:ln>
            <a:noFill/>
          </a:ln>
        </p:spPr>
      </p:sp>
      <p:sp>
        <p:nvSpPr>
          <p:cNvPr id="62" name="Google Shape;62;p14"/>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Open Sans"/>
              <a:ea typeface="Open Sans"/>
              <a:cs typeface="Open Sans"/>
              <a:sym typeface="Open Sans"/>
            </a:endParaRPr>
          </a:p>
        </p:txBody>
      </p:sp>
      <p:pic>
        <p:nvPicPr>
          <p:cNvPr id="63" name="Google Shape;63;p14"/>
          <p:cNvPicPr preferRelativeResize="0"/>
          <p:nvPr/>
        </p:nvPicPr>
        <p:blipFill rotWithShape="1">
          <a:blip r:embed="rId2">
            <a:alphaModFix/>
          </a:blip>
          <a:srcRect b="0" l="0" r="0" t="0"/>
          <a:stretch/>
        </p:blipFill>
        <p:spPr>
          <a:xfrm>
            <a:off x="2362200" y="1047750"/>
            <a:ext cx="3429000" cy="306388"/>
          </a:xfrm>
          <a:prstGeom prst="rect">
            <a:avLst/>
          </a:prstGeom>
          <a:noFill/>
          <a:ln>
            <a:noFill/>
          </a:ln>
        </p:spPr>
      </p:pic>
      <p:pic>
        <p:nvPicPr>
          <p:cNvPr descr="_Plaid-Digital_FINAL-NEW.png" id="64" name="Google Shape;64;p14"/>
          <p:cNvPicPr preferRelativeResize="0"/>
          <p:nvPr/>
        </p:nvPicPr>
        <p:blipFill rotWithShape="1">
          <a:blip r:embed="rId3">
            <a:alphaModFix/>
          </a:blip>
          <a:srcRect b="1983" l="84734" r="4770" t="23991"/>
          <a:stretch/>
        </p:blipFill>
        <p:spPr>
          <a:xfrm>
            <a:off x="609600" y="0"/>
            <a:ext cx="790573" cy="514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65" name="Shape 65"/>
        <p:cNvGrpSpPr/>
        <p:nvPr/>
      </p:nvGrpSpPr>
      <p:grpSpPr>
        <a:xfrm>
          <a:off x="0" y="0"/>
          <a:ext cx="0" cy="0"/>
          <a:chOff x="0" y="0"/>
          <a:chExt cx="0" cy="0"/>
        </a:xfrm>
      </p:grpSpPr>
      <p:pic>
        <p:nvPicPr>
          <p:cNvPr descr="Picture 6" id="66" name="Google Shape;66;p1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7" name="Google Shape;67;p15"/>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8" name="Google Shape;68;p15"/>
          <p:cNvSpPr txBox="1"/>
          <p:nvPr>
            <p:ph idx="12" type="sldNum"/>
          </p:nvPr>
        </p:nvSpPr>
        <p:spPr>
          <a:xfrm>
            <a:off x="1731169" y="4740695"/>
            <a:ext cx="262800" cy="253800"/>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pic>
        <p:nvPicPr>
          <p:cNvPr id="69" name="Google Shape;69;p15"/>
          <p:cNvPicPr preferRelativeResize="0"/>
          <p:nvPr/>
        </p:nvPicPr>
        <p:blipFill rotWithShape="1">
          <a:blip r:embed="rId3">
            <a:alphaModFix/>
          </a:blip>
          <a:srcRect b="0" l="0" r="0" t="0"/>
          <a:stretch/>
        </p:blipFill>
        <p:spPr>
          <a:xfrm>
            <a:off x="6738588" y="4781811"/>
            <a:ext cx="2158019" cy="189716"/>
          </a:xfrm>
          <a:prstGeom prst="rect">
            <a:avLst/>
          </a:prstGeom>
          <a:noFill/>
          <a:ln>
            <a:noFill/>
          </a:ln>
        </p:spPr>
      </p:pic>
      <p:sp>
        <p:nvSpPr>
          <p:cNvPr id="70" name="Google Shape;70;p15"/>
          <p:cNvSpPr/>
          <p:nvPr>
            <p:ph idx="2" type="chart"/>
          </p:nvPr>
        </p:nvSpPr>
        <p:spPr>
          <a:xfrm>
            <a:off x="1731169" y="2012156"/>
            <a:ext cx="5326800" cy="2391900"/>
          </a:xfrm>
          <a:prstGeom prst="rect">
            <a:avLst/>
          </a:prstGeom>
          <a:noFill/>
          <a:ln>
            <a:noFill/>
          </a:ln>
        </p:spPr>
        <p:txBody>
          <a:bodyPr anchorCtr="0" anchor="t" bIns="34275" lIns="34275" spcFirstLastPara="1" rIns="34275" wrap="square" tIns="34275">
            <a:noAutofit/>
          </a:bodyPr>
          <a:lstStyle>
            <a:lvl1pPr lvl="0" marR="0" algn="l">
              <a:lnSpc>
                <a:spcPct val="90000"/>
              </a:lnSpc>
              <a:spcBef>
                <a:spcPts val="800"/>
              </a:spcBef>
              <a:spcAft>
                <a:spcPts val="0"/>
              </a:spcAft>
              <a:buClr>
                <a:srgbClr val="5D5D5D"/>
              </a:buClr>
              <a:buSzPts val="1500"/>
              <a:buFont typeface="Arial"/>
              <a:buNone/>
              <a:defRPr b="0" i="0" sz="1500" u="none" cap="none" strike="noStrike">
                <a:solidFill>
                  <a:srgbClr val="5D5D5D"/>
                </a:solidFill>
                <a:latin typeface="Open Sans Light"/>
                <a:ea typeface="Open Sans Light"/>
                <a:cs typeface="Open Sans Light"/>
                <a:sym typeface="Open Sans Light"/>
              </a:defRPr>
            </a:lvl1pPr>
            <a:lvl2pPr lvl="1" marR="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2pPr>
            <a:lvl3pPr lvl="2" marR="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3pPr>
            <a:lvl4pPr lvl="3" marR="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4pPr>
            <a:lvl5pPr lvl="4" marR="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5pPr>
            <a:lvl6pPr lvl="5" marR="0" algn="l">
              <a:lnSpc>
                <a:spcPct val="90000"/>
              </a:lnSpc>
              <a:spcBef>
                <a:spcPts val="800"/>
              </a:spcBef>
              <a:spcAft>
                <a:spcPts val="0"/>
              </a:spcAft>
              <a:buClr>
                <a:srgbClr val="000000"/>
              </a:buClr>
              <a:buSzPts val="2100"/>
              <a:buFont typeface="Arial"/>
              <a:buChar char="•"/>
              <a:defRPr b="1" i="0" sz="2100" u="none" cap="none" strike="noStrike">
                <a:solidFill>
                  <a:srgbClr val="000000"/>
                </a:solidFill>
                <a:latin typeface="Open Sans ExtraBold"/>
                <a:ea typeface="Open Sans ExtraBold"/>
                <a:cs typeface="Open Sans ExtraBold"/>
                <a:sym typeface="Open Sans ExtraBold"/>
              </a:defRPr>
            </a:lvl6pPr>
            <a:lvl7pPr lvl="6" marR="0" algn="l">
              <a:lnSpc>
                <a:spcPct val="90000"/>
              </a:lnSpc>
              <a:spcBef>
                <a:spcPts val="800"/>
              </a:spcBef>
              <a:spcAft>
                <a:spcPts val="0"/>
              </a:spcAft>
              <a:buClr>
                <a:srgbClr val="000000"/>
              </a:buClr>
              <a:buSzPts val="2100"/>
              <a:buFont typeface="Arial"/>
              <a:buChar char="•"/>
              <a:defRPr b="1" i="0" sz="2100" u="none" cap="none" strike="noStrike">
                <a:solidFill>
                  <a:srgbClr val="000000"/>
                </a:solidFill>
                <a:latin typeface="Open Sans ExtraBold"/>
                <a:ea typeface="Open Sans ExtraBold"/>
                <a:cs typeface="Open Sans ExtraBold"/>
                <a:sym typeface="Open Sans ExtraBold"/>
              </a:defRPr>
            </a:lvl7pPr>
            <a:lvl8pPr lvl="7" marR="0" algn="l">
              <a:lnSpc>
                <a:spcPct val="90000"/>
              </a:lnSpc>
              <a:spcBef>
                <a:spcPts val="800"/>
              </a:spcBef>
              <a:spcAft>
                <a:spcPts val="0"/>
              </a:spcAft>
              <a:buClr>
                <a:srgbClr val="000000"/>
              </a:buClr>
              <a:buSzPts val="2100"/>
              <a:buFont typeface="Arial"/>
              <a:buChar char="•"/>
              <a:defRPr b="1" i="0" sz="2100" u="none" cap="none" strike="noStrike">
                <a:solidFill>
                  <a:srgbClr val="000000"/>
                </a:solidFill>
                <a:latin typeface="Open Sans ExtraBold"/>
                <a:ea typeface="Open Sans ExtraBold"/>
                <a:cs typeface="Open Sans ExtraBold"/>
                <a:sym typeface="Open Sans ExtraBold"/>
              </a:defRPr>
            </a:lvl8pPr>
            <a:lvl9pPr lvl="8" marR="0" algn="l">
              <a:lnSpc>
                <a:spcPct val="90000"/>
              </a:lnSpc>
              <a:spcBef>
                <a:spcPts val="800"/>
              </a:spcBef>
              <a:spcAft>
                <a:spcPts val="0"/>
              </a:spcAft>
              <a:buClr>
                <a:srgbClr val="000000"/>
              </a:buClr>
              <a:buSzPts val="2100"/>
              <a:buFont typeface="Arial"/>
              <a:buChar char="•"/>
              <a:defRPr b="1" i="0" sz="2100" u="none" cap="none" strike="noStrike">
                <a:solidFill>
                  <a:srgbClr val="000000"/>
                </a:solidFill>
                <a:latin typeface="Open Sans ExtraBold"/>
                <a:ea typeface="Open Sans ExtraBold"/>
                <a:cs typeface="Open Sans ExtraBold"/>
                <a:sym typeface="Open Sans ExtraBold"/>
              </a:defRPr>
            </a:lvl9pPr>
          </a:lstStyle>
          <a:p/>
        </p:txBody>
      </p:sp>
      <p:cxnSp>
        <p:nvCxnSpPr>
          <p:cNvPr id="71" name="Google Shape;71;p15"/>
          <p:cNvCxnSpPr/>
          <p:nvPr/>
        </p:nvCxnSpPr>
        <p:spPr>
          <a:xfrm>
            <a:off x="1788091" y="1211792"/>
            <a:ext cx="6882900" cy="0"/>
          </a:xfrm>
          <a:prstGeom prst="straightConnector1">
            <a:avLst/>
          </a:prstGeom>
          <a:noFill/>
          <a:ln cap="flat" cmpd="sng" w="9525">
            <a:solidFill>
              <a:srgbClr val="A5A5A5"/>
            </a:solidFill>
            <a:prstDash val="solid"/>
            <a:miter lim="800000"/>
            <a:headEnd len="sm" w="sm" type="none"/>
            <a:tailEnd len="sm" w="sm" type="none"/>
          </a:ln>
        </p:spPr>
      </p:cxnSp>
      <p:pic>
        <p:nvPicPr>
          <p:cNvPr id="72" name="Google Shape;72;p15"/>
          <p:cNvPicPr preferRelativeResize="0"/>
          <p:nvPr/>
        </p:nvPicPr>
        <p:blipFill rotWithShape="1">
          <a:blip r:embed="rId4">
            <a:alphaModFix/>
          </a:blip>
          <a:srcRect b="0" l="0" r="0" t="0"/>
          <a:stretch/>
        </p:blipFill>
        <p:spPr>
          <a:xfrm>
            <a:off x="2778479" y="2012440"/>
            <a:ext cx="3587042" cy="2391360"/>
          </a:xfrm>
          <a:prstGeom prst="rect">
            <a:avLst/>
          </a:prstGeom>
          <a:noFill/>
          <a:ln>
            <a:noFill/>
          </a:ln>
        </p:spPr>
      </p:pic>
      <p:sp>
        <p:nvSpPr>
          <p:cNvPr id="73" name="Google Shape;73;p15"/>
          <p:cNvSpPr txBox="1"/>
          <p:nvPr>
            <p:ph idx="1" type="body"/>
          </p:nvPr>
        </p:nvSpPr>
        <p:spPr>
          <a:xfrm>
            <a:off x="1788094" y="585272"/>
            <a:ext cx="4412400" cy="4848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4" name="Google Shape;74;p15"/>
          <p:cNvSpPr txBox="1"/>
          <p:nvPr>
            <p:ph idx="3" type="body"/>
          </p:nvPr>
        </p:nvSpPr>
        <p:spPr>
          <a:xfrm>
            <a:off x="1731169" y="1634729"/>
            <a:ext cx="5007300" cy="2763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400"/>
              <a:buNone/>
              <a:defRPr b="1" sz="1400">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cxnSp>
        <p:nvCxnSpPr>
          <p:cNvPr id="80" name="Google Shape;80;p16"/>
          <p:cNvCxnSpPr/>
          <p:nvPr/>
        </p:nvCxnSpPr>
        <p:spPr>
          <a:xfrm>
            <a:off x="2209800" y="3714750"/>
            <a:ext cx="5486400" cy="0"/>
          </a:xfrm>
          <a:prstGeom prst="straightConnector1">
            <a:avLst/>
          </a:prstGeom>
          <a:noFill/>
          <a:ln cap="flat" cmpd="sng" w="9525">
            <a:solidFill>
              <a:srgbClr val="FFFFFF"/>
            </a:solidFill>
            <a:prstDash val="solid"/>
            <a:round/>
            <a:headEnd len="sm" w="sm" type="none"/>
            <a:tailEnd len="sm" w="sm" type="none"/>
          </a:ln>
        </p:spPr>
      </p:cxnSp>
      <p:sp>
        <p:nvSpPr>
          <p:cNvPr id="81" name="Google Shape;81;p16"/>
          <p:cNvSpPr txBox="1"/>
          <p:nvPr/>
        </p:nvSpPr>
        <p:spPr>
          <a:xfrm>
            <a:off x="2133600" y="1753200"/>
            <a:ext cx="6473100" cy="1885500"/>
          </a:xfrm>
          <a:prstGeom prst="rect">
            <a:avLst/>
          </a:prstGeom>
          <a:noFill/>
          <a:ln>
            <a:noFill/>
          </a:ln>
        </p:spPr>
        <p:txBody>
          <a:bodyPr anchorCtr="0" anchor="t" bIns="45700" lIns="91425" spcFirstLastPara="1" rIns="91425" wrap="square" tIns="45700">
            <a:noAutofit/>
          </a:bodyPr>
          <a:lstStyle/>
          <a:p>
            <a:pPr indent="-3175" lvl="0" marL="3175" marR="0" rtl="0" algn="l">
              <a:lnSpc>
                <a:spcPct val="100000"/>
              </a:lnSpc>
              <a:spcBef>
                <a:spcPts val="0"/>
              </a:spcBef>
              <a:spcAft>
                <a:spcPts val="0"/>
              </a:spcAft>
              <a:buClr>
                <a:srgbClr val="000000"/>
              </a:buClr>
              <a:buSzPts val="4000"/>
              <a:buFont typeface="Arial"/>
              <a:buNone/>
            </a:pPr>
            <a:r>
              <a:rPr lang="en" sz="4000">
                <a:solidFill>
                  <a:schemeClr val="lt1"/>
                </a:solidFill>
                <a:latin typeface="Open Sans"/>
                <a:ea typeface="Open Sans"/>
                <a:cs typeface="Open Sans"/>
                <a:sym typeface="Open Sans"/>
              </a:rPr>
              <a:t>EqRAG: Augmented LLM for Precise, High-Alpha </a:t>
            </a:r>
            <a:r>
              <a:rPr lang="en" sz="4000">
                <a:solidFill>
                  <a:schemeClr val="lt1"/>
                </a:solidFill>
                <a:latin typeface="Open Sans"/>
                <a:ea typeface="Open Sans"/>
                <a:cs typeface="Open Sans"/>
                <a:sym typeface="Open Sans"/>
              </a:rPr>
              <a:t>Recommendation</a:t>
            </a:r>
            <a:endParaRPr b="0" i="0" sz="1400" u="none" cap="none" strike="noStrike">
              <a:solidFill>
                <a:srgbClr val="000000"/>
              </a:solidFill>
              <a:latin typeface="Arial"/>
              <a:ea typeface="Arial"/>
              <a:cs typeface="Arial"/>
              <a:sym typeface="Arial"/>
            </a:endParaRPr>
          </a:p>
        </p:txBody>
      </p:sp>
      <p:sp>
        <p:nvSpPr>
          <p:cNvPr id="82" name="Google Shape;82;p16"/>
          <p:cNvSpPr txBox="1"/>
          <p:nvPr/>
        </p:nvSpPr>
        <p:spPr>
          <a:xfrm>
            <a:off x="2133600" y="3867150"/>
            <a:ext cx="52578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320"/>
              </a:spcBef>
              <a:spcAft>
                <a:spcPts val="0"/>
              </a:spcAft>
              <a:buClr>
                <a:srgbClr val="000000"/>
              </a:buClr>
              <a:buSzPts val="1600"/>
              <a:buFont typeface="Arial"/>
              <a:buNone/>
            </a:pPr>
            <a:r>
              <a:rPr lang="en" sz="1600">
                <a:solidFill>
                  <a:srgbClr val="FFFFFF"/>
                </a:solidFill>
                <a:latin typeface="Open Sans"/>
                <a:ea typeface="Open Sans"/>
                <a:cs typeface="Open Sans"/>
                <a:sym typeface="Open Sans"/>
              </a:rPr>
              <a:t>Aditya Motwani, Anuj Gupta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Problem Statement</a:t>
            </a:r>
            <a:endParaRPr/>
          </a:p>
        </p:txBody>
      </p:sp>
      <p:sp>
        <p:nvSpPr>
          <p:cNvPr id="88" name="Google Shape;88;p17"/>
          <p:cNvSpPr/>
          <p:nvPr>
            <p:ph idx="2" type="chart"/>
          </p:nvPr>
        </p:nvSpPr>
        <p:spPr>
          <a:xfrm>
            <a:off x="1731175" y="1436950"/>
            <a:ext cx="7033200" cy="810600"/>
          </a:xfrm>
          <a:prstGeom prst="rect">
            <a:avLst/>
          </a:prstGeom>
          <a:noFill/>
          <a:ln>
            <a:noFill/>
          </a:ln>
        </p:spPr>
        <p:txBody>
          <a:bodyPr anchorCtr="0" anchor="t" bIns="34275" lIns="34275" spcFirstLastPara="1" rIns="34275" wrap="square" tIns="34275">
            <a:noAutofit/>
          </a:bodyPr>
          <a:lstStyle/>
          <a:p>
            <a:pPr indent="0" lvl="0" marL="0" rtl="0" algn="l">
              <a:lnSpc>
                <a:spcPct val="115000"/>
              </a:lnSpc>
              <a:spcBef>
                <a:spcPts val="1200"/>
              </a:spcBef>
              <a:spcAft>
                <a:spcPts val="0"/>
              </a:spcAft>
              <a:buNone/>
            </a:pPr>
            <a:r>
              <a:rPr lang="en" sz="1800">
                <a:solidFill>
                  <a:srgbClr val="000000"/>
                </a:solidFill>
              </a:rPr>
              <a:t>Current trading systems add recent market events to company financials, limiting accurate capture of recent events.</a:t>
            </a:r>
            <a:endParaRPr sz="1800">
              <a:solidFill>
                <a:srgbClr val="000000"/>
              </a:solidFill>
            </a:endParaRPr>
          </a:p>
          <a:p>
            <a:pPr indent="0" lvl="0" marL="0" rtl="0" algn="l">
              <a:lnSpc>
                <a:spcPct val="115000"/>
              </a:lnSpc>
              <a:spcBef>
                <a:spcPts val="1200"/>
              </a:spcBef>
              <a:spcAft>
                <a:spcPts val="1200"/>
              </a:spcAft>
              <a:buNone/>
            </a:pPr>
            <a:r>
              <a:t/>
            </a:r>
            <a:endParaRPr sz="1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Problem Statement</a:t>
            </a:r>
            <a:endParaRPr/>
          </a:p>
        </p:txBody>
      </p:sp>
      <p:sp>
        <p:nvSpPr>
          <p:cNvPr id="94" name="Google Shape;94;p18"/>
          <p:cNvSpPr/>
          <p:nvPr>
            <p:ph idx="2" type="chart"/>
          </p:nvPr>
        </p:nvSpPr>
        <p:spPr>
          <a:xfrm>
            <a:off x="1731175" y="1436950"/>
            <a:ext cx="7033200" cy="810600"/>
          </a:xfrm>
          <a:prstGeom prst="rect">
            <a:avLst/>
          </a:prstGeom>
          <a:noFill/>
          <a:ln>
            <a:noFill/>
          </a:ln>
        </p:spPr>
        <p:txBody>
          <a:bodyPr anchorCtr="0" anchor="t" bIns="34275" lIns="34275" spcFirstLastPara="1" rIns="34275" wrap="square" tIns="34275">
            <a:noAutofit/>
          </a:bodyPr>
          <a:lstStyle/>
          <a:p>
            <a:pPr indent="0" lvl="0" marL="0" rtl="0" algn="l">
              <a:lnSpc>
                <a:spcPct val="115000"/>
              </a:lnSpc>
              <a:spcBef>
                <a:spcPts val="1200"/>
              </a:spcBef>
              <a:spcAft>
                <a:spcPts val="1200"/>
              </a:spcAft>
              <a:buNone/>
            </a:pPr>
            <a:r>
              <a:rPr lang="en" sz="1800">
                <a:solidFill>
                  <a:srgbClr val="000000"/>
                </a:solidFill>
              </a:rPr>
              <a:t>Current trading systems add recent market events to company financials, limiting accurate capture of recent events.</a:t>
            </a:r>
            <a:endParaRPr sz="1800"/>
          </a:p>
        </p:txBody>
      </p:sp>
      <p:grpSp>
        <p:nvGrpSpPr>
          <p:cNvPr id="95" name="Google Shape;95;p18"/>
          <p:cNvGrpSpPr/>
          <p:nvPr/>
        </p:nvGrpSpPr>
        <p:grpSpPr>
          <a:xfrm>
            <a:off x="3258100" y="3438100"/>
            <a:ext cx="3934775" cy="1160750"/>
            <a:chOff x="3280388" y="2218000"/>
            <a:chExt cx="3934775" cy="1160750"/>
          </a:xfrm>
        </p:grpSpPr>
        <p:pic>
          <p:nvPicPr>
            <p:cNvPr id="96" name="Google Shape;96;p18"/>
            <p:cNvPicPr preferRelativeResize="0"/>
            <p:nvPr/>
          </p:nvPicPr>
          <p:blipFill>
            <a:blip r:embed="rId3">
              <a:alphaModFix/>
            </a:blip>
            <a:stretch>
              <a:fillRect/>
            </a:stretch>
          </p:blipFill>
          <p:spPr>
            <a:xfrm>
              <a:off x="6054413" y="2218000"/>
              <a:ext cx="1160750" cy="1160750"/>
            </a:xfrm>
            <a:prstGeom prst="rect">
              <a:avLst/>
            </a:prstGeom>
            <a:noFill/>
            <a:ln>
              <a:noFill/>
            </a:ln>
          </p:spPr>
        </p:pic>
        <p:pic>
          <p:nvPicPr>
            <p:cNvPr id="97" name="Google Shape;97;p18"/>
            <p:cNvPicPr preferRelativeResize="0"/>
            <p:nvPr/>
          </p:nvPicPr>
          <p:blipFill>
            <a:blip r:embed="rId4">
              <a:alphaModFix/>
            </a:blip>
            <a:stretch>
              <a:fillRect/>
            </a:stretch>
          </p:blipFill>
          <p:spPr>
            <a:xfrm>
              <a:off x="3280388" y="2218000"/>
              <a:ext cx="1160750" cy="1160750"/>
            </a:xfrm>
            <a:prstGeom prst="rect">
              <a:avLst/>
            </a:prstGeom>
            <a:noFill/>
            <a:ln>
              <a:noFill/>
            </a:ln>
          </p:spPr>
        </p:pic>
        <p:sp>
          <p:nvSpPr>
            <p:cNvPr id="98" name="Google Shape;98;p18"/>
            <p:cNvSpPr txBox="1"/>
            <p:nvPr/>
          </p:nvSpPr>
          <p:spPr>
            <a:xfrm>
              <a:off x="4965325" y="2359775"/>
              <a:ext cx="564900" cy="877200"/>
            </a:xfrm>
            <a:prstGeom prst="rect">
              <a:avLst/>
            </a:prstGeom>
            <a:noFill/>
            <a:ln>
              <a:noFill/>
            </a:ln>
          </p:spPr>
          <p:txBody>
            <a:bodyPr anchorCtr="0" anchor="t" bIns="91425" lIns="91425" spcFirstLastPara="1" rIns="91425" wrap="square" tIns="91425">
              <a:spAutoFit/>
            </a:bodyPr>
            <a:lstStyle/>
            <a:p>
              <a:pPr indent="0" lvl="0" marL="0" rtl="0" algn="ctr">
                <a:lnSpc>
                  <a:spcPct val="138000"/>
                </a:lnSpc>
                <a:spcBef>
                  <a:spcPts val="1200"/>
                </a:spcBef>
                <a:spcAft>
                  <a:spcPts val="1200"/>
                </a:spcAft>
                <a:buNone/>
              </a:pPr>
              <a:r>
                <a:rPr b="1" lang="en" sz="4500">
                  <a:solidFill>
                    <a:srgbClr val="6AA84F"/>
                  </a:solidFill>
                  <a:latin typeface="Open Sans"/>
                  <a:ea typeface="Open Sans"/>
                  <a:cs typeface="Open Sans"/>
                  <a:sym typeface="Open Sans"/>
                </a:rPr>
                <a:t>+</a:t>
              </a:r>
              <a:endParaRPr b="1" sz="4500">
                <a:solidFill>
                  <a:srgbClr val="6AA84F"/>
                </a:solidFill>
                <a:latin typeface="Open Sans"/>
                <a:ea typeface="Open Sans"/>
                <a:cs typeface="Open Sans"/>
                <a:sym typeface="Open Sans"/>
              </a:endParaRPr>
            </a:p>
          </p:txBody>
        </p:sp>
      </p:grpSp>
      <p:sp>
        <p:nvSpPr>
          <p:cNvPr id="99" name="Google Shape;99;p18"/>
          <p:cNvSpPr txBox="1"/>
          <p:nvPr/>
        </p:nvSpPr>
        <p:spPr>
          <a:xfrm>
            <a:off x="1788100" y="2293375"/>
            <a:ext cx="69762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latin typeface="Open Sans"/>
                <a:ea typeface="Open Sans"/>
                <a:cs typeface="Open Sans"/>
                <a:sym typeface="Open Sans"/>
              </a:rPr>
              <a:t>Proposed Solution</a:t>
            </a:r>
            <a:endParaRPr b="1" sz="18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800">
                <a:solidFill>
                  <a:schemeClr val="dk1"/>
                </a:solidFill>
                <a:latin typeface="Open Sans Light"/>
                <a:ea typeface="Open Sans Light"/>
                <a:cs typeface="Open Sans Light"/>
                <a:sym typeface="Open Sans Light"/>
              </a:rPr>
              <a:t>C</a:t>
            </a:r>
            <a:r>
              <a:rPr lang="en" sz="1800">
                <a:solidFill>
                  <a:schemeClr val="dk1"/>
                </a:solidFill>
                <a:latin typeface="Open Sans Light"/>
                <a:ea typeface="Open Sans Light"/>
                <a:cs typeface="Open Sans Light"/>
                <a:sym typeface="Open Sans Light"/>
              </a:rPr>
              <a:t>ombining News and Financial Metrics to generate investment recommendations from a single reasoning LLM.</a:t>
            </a:r>
            <a:endParaRPr sz="1800">
              <a:solidFill>
                <a:srgbClr val="5D5D5D"/>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Evaluation Metrics</a:t>
            </a:r>
            <a:endParaRPr/>
          </a:p>
        </p:txBody>
      </p:sp>
      <p:pic>
        <p:nvPicPr>
          <p:cNvPr id="105" name="Google Shape;105;p19"/>
          <p:cNvPicPr preferRelativeResize="0"/>
          <p:nvPr/>
        </p:nvPicPr>
        <p:blipFill>
          <a:blip r:embed="rId3">
            <a:alphaModFix/>
          </a:blip>
          <a:stretch>
            <a:fillRect/>
          </a:stretch>
        </p:blipFill>
        <p:spPr>
          <a:xfrm>
            <a:off x="1731175" y="1326431"/>
            <a:ext cx="3157919" cy="3157919"/>
          </a:xfrm>
          <a:prstGeom prst="rect">
            <a:avLst/>
          </a:prstGeom>
          <a:noFill/>
          <a:ln>
            <a:noFill/>
          </a:ln>
        </p:spPr>
      </p:pic>
      <p:sp>
        <p:nvSpPr>
          <p:cNvPr id="106" name="Google Shape;106;p19"/>
          <p:cNvSpPr txBox="1"/>
          <p:nvPr/>
        </p:nvSpPr>
        <p:spPr>
          <a:xfrm>
            <a:off x="4964213" y="1586188"/>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6AA84F"/>
                </a:solidFill>
              </a:rPr>
              <a:t>Buy</a:t>
            </a:r>
            <a:endParaRPr b="1" sz="1700">
              <a:solidFill>
                <a:srgbClr val="6AA84F"/>
              </a:solidFill>
            </a:endParaRPr>
          </a:p>
        </p:txBody>
      </p:sp>
      <p:sp>
        <p:nvSpPr>
          <p:cNvPr id="107" name="Google Shape;107;p19"/>
          <p:cNvSpPr txBox="1"/>
          <p:nvPr/>
        </p:nvSpPr>
        <p:spPr>
          <a:xfrm>
            <a:off x="4964213" y="2682188"/>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DD7E6B"/>
                </a:solidFill>
              </a:rPr>
              <a:t>Sell</a:t>
            </a:r>
            <a:endParaRPr b="1" sz="1700">
              <a:solidFill>
                <a:srgbClr val="DD7E6B"/>
              </a:solidFill>
            </a:endParaRPr>
          </a:p>
        </p:txBody>
      </p:sp>
      <p:sp>
        <p:nvSpPr>
          <p:cNvPr id="108" name="Google Shape;108;p19"/>
          <p:cNvSpPr txBox="1"/>
          <p:nvPr/>
        </p:nvSpPr>
        <p:spPr>
          <a:xfrm>
            <a:off x="4964213" y="3778175"/>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828282"/>
                </a:solidFill>
              </a:rPr>
              <a:t>Hold</a:t>
            </a:r>
            <a:endParaRPr b="1" sz="1700">
              <a:solidFill>
                <a:srgbClr val="82828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Evaluation Metrics</a:t>
            </a:r>
            <a:endParaRPr/>
          </a:p>
        </p:txBody>
      </p:sp>
      <p:sp>
        <p:nvSpPr>
          <p:cNvPr id="114" name="Google Shape;114;p20"/>
          <p:cNvSpPr txBox="1"/>
          <p:nvPr/>
        </p:nvSpPr>
        <p:spPr>
          <a:xfrm>
            <a:off x="5873050" y="2759175"/>
            <a:ext cx="1448400" cy="12006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Perplexity </a:t>
            </a:r>
            <a:r>
              <a:rPr lang="en" sz="1200">
                <a:solidFill>
                  <a:schemeClr val="dk2"/>
                </a:solidFill>
              </a:rPr>
              <a:t>For </a:t>
            </a:r>
            <a:r>
              <a:rPr lang="en" sz="1200">
                <a:solidFill>
                  <a:schemeClr val="dk2"/>
                </a:solidFill>
              </a:rPr>
              <a:t>model </a:t>
            </a:r>
            <a:r>
              <a:rPr lang="en" sz="1200">
                <a:solidFill>
                  <a:schemeClr val="dk2"/>
                </a:solidFill>
              </a:rPr>
              <a:t>generalization across financial texts</a:t>
            </a:r>
            <a:endParaRPr sz="1200">
              <a:solidFill>
                <a:schemeClr val="dk2"/>
              </a:solidFill>
            </a:endParaRPr>
          </a:p>
        </p:txBody>
      </p:sp>
      <p:pic>
        <p:nvPicPr>
          <p:cNvPr id="115" name="Google Shape;115;p20"/>
          <p:cNvPicPr preferRelativeResize="0"/>
          <p:nvPr/>
        </p:nvPicPr>
        <p:blipFill>
          <a:blip r:embed="rId3">
            <a:alphaModFix/>
          </a:blip>
          <a:stretch>
            <a:fillRect/>
          </a:stretch>
        </p:blipFill>
        <p:spPr>
          <a:xfrm>
            <a:off x="1731175" y="1326431"/>
            <a:ext cx="3157919" cy="3157919"/>
          </a:xfrm>
          <a:prstGeom prst="rect">
            <a:avLst/>
          </a:prstGeom>
          <a:noFill/>
          <a:ln>
            <a:noFill/>
          </a:ln>
        </p:spPr>
      </p:pic>
      <p:pic>
        <p:nvPicPr>
          <p:cNvPr id="116" name="Google Shape;116;p20"/>
          <p:cNvPicPr preferRelativeResize="0"/>
          <p:nvPr/>
        </p:nvPicPr>
        <p:blipFill>
          <a:blip r:embed="rId4">
            <a:alphaModFix/>
          </a:blip>
          <a:stretch>
            <a:fillRect/>
          </a:stretch>
        </p:blipFill>
        <p:spPr>
          <a:xfrm>
            <a:off x="7501222" y="1337378"/>
            <a:ext cx="1092700" cy="1092700"/>
          </a:xfrm>
          <a:prstGeom prst="rect">
            <a:avLst/>
          </a:prstGeom>
          <a:noFill/>
          <a:ln>
            <a:noFill/>
          </a:ln>
        </p:spPr>
      </p:pic>
      <p:pic>
        <p:nvPicPr>
          <p:cNvPr id="117" name="Google Shape;117;p20"/>
          <p:cNvPicPr preferRelativeResize="0"/>
          <p:nvPr/>
        </p:nvPicPr>
        <p:blipFill>
          <a:blip r:embed="rId5">
            <a:alphaModFix/>
          </a:blip>
          <a:stretch>
            <a:fillRect/>
          </a:stretch>
        </p:blipFill>
        <p:spPr>
          <a:xfrm>
            <a:off x="6050897" y="1337378"/>
            <a:ext cx="1092700" cy="1092700"/>
          </a:xfrm>
          <a:prstGeom prst="rect">
            <a:avLst/>
          </a:prstGeom>
          <a:noFill/>
          <a:ln>
            <a:noFill/>
          </a:ln>
        </p:spPr>
      </p:pic>
      <p:sp>
        <p:nvSpPr>
          <p:cNvPr id="118" name="Google Shape;118;p20"/>
          <p:cNvSpPr txBox="1"/>
          <p:nvPr/>
        </p:nvSpPr>
        <p:spPr>
          <a:xfrm>
            <a:off x="7323375" y="2759175"/>
            <a:ext cx="1448400" cy="831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Accuracy</a:t>
            </a:r>
            <a:endParaRPr b="1" sz="1800">
              <a:solidFill>
                <a:schemeClr val="dk2"/>
              </a:solidFill>
            </a:endParaRPr>
          </a:p>
          <a:p>
            <a:pPr indent="0" lvl="0" marL="0" rtl="0" algn="ctr">
              <a:spcBef>
                <a:spcPts val="0"/>
              </a:spcBef>
              <a:spcAft>
                <a:spcPts val="0"/>
              </a:spcAft>
              <a:buNone/>
            </a:pPr>
            <a:r>
              <a:rPr lang="en" sz="1200">
                <a:solidFill>
                  <a:schemeClr val="dk2"/>
                </a:solidFill>
              </a:rPr>
              <a:t>On model </a:t>
            </a:r>
            <a:r>
              <a:rPr lang="en" sz="1200">
                <a:solidFill>
                  <a:schemeClr val="dk2"/>
                </a:solidFill>
              </a:rPr>
              <a:t>recommendations</a:t>
            </a:r>
            <a:endParaRPr sz="1200">
              <a:solidFill>
                <a:schemeClr val="dk2"/>
              </a:solidFill>
            </a:endParaRPr>
          </a:p>
        </p:txBody>
      </p:sp>
      <p:cxnSp>
        <p:nvCxnSpPr>
          <p:cNvPr id="119" name="Google Shape;119;p20"/>
          <p:cNvCxnSpPr>
            <a:stCxn id="118" idx="2"/>
            <a:endCxn id="120" idx="0"/>
          </p:cNvCxnSpPr>
          <p:nvPr/>
        </p:nvCxnSpPr>
        <p:spPr>
          <a:xfrm flipH="1">
            <a:off x="6651075" y="3590475"/>
            <a:ext cx="1396500" cy="513600"/>
          </a:xfrm>
          <a:prstGeom prst="straightConnector1">
            <a:avLst/>
          </a:prstGeom>
          <a:noFill/>
          <a:ln cap="flat" cmpd="sng" w="9525">
            <a:solidFill>
              <a:schemeClr val="dk2"/>
            </a:solidFill>
            <a:prstDash val="solid"/>
            <a:round/>
            <a:headEnd len="med" w="med" type="none"/>
            <a:tailEnd len="med" w="med" type="stealth"/>
          </a:ln>
        </p:spPr>
      </p:cxnSp>
      <p:sp>
        <p:nvSpPr>
          <p:cNvPr id="120" name="Google Shape;120;p20"/>
          <p:cNvSpPr txBox="1"/>
          <p:nvPr/>
        </p:nvSpPr>
        <p:spPr>
          <a:xfrm>
            <a:off x="6234138" y="4104075"/>
            <a:ext cx="8337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 sz="1200">
                <a:solidFill>
                  <a:schemeClr val="dk2"/>
                </a:solidFill>
              </a:rPr>
              <a:t>Precision</a:t>
            </a:r>
            <a:endParaRPr sz="1200">
              <a:solidFill>
                <a:schemeClr val="dk2"/>
              </a:solidFill>
            </a:endParaRPr>
          </a:p>
        </p:txBody>
      </p:sp>
      <p:sp>
        <p:nvSpPr>
          <p:cNvPr id="121" name="Google Shape;121;p20"/>
          <p:cNvSpPr txBox="1"/>
          <p:nvPr/>
        </p:nvSpPr>
        <p:spPr>
          <a:xfrm>
            <a:off x="7148713" y="4104075"/>
            <a:ext cx="7692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 sz="1200">
                <a:solidFill>
                  <a:schemeClr val="dk2"/>
                </a:solidFill>
              </a:rPr>
              <a:t>Recall</a:t>
            </a:r>
            <a:endParaRPr sz="1200">
              <a:solidFill>
                <a:schemeClr val="dk2"/>
              </a:solidFill>
            </a:endParaRPr>
          </a:p>
        </p:txBody>
      </p:sp>
      <p:cxnSp>
        <p:nvCxnSpPr>
          <p:cNvPr id="122" name="Google Shape;122;p20"/>
          <p:cNvCxnSpPr>
            <a:stCxn id="118" idx="2"/>
            <a:endCxn id="121" idx="0"/>
          </p:cNvCxnSpPr>
          <p:nvPr/>
        </p:nvCxnSpPr>
        <p:spPr>
          <a:xfrm flipH="1">
            <a:off x="7533375" y="3590475"/>
            <a:ext cx="514200" cy="513600"/>
          </a:xfrm>
          <a:prstGeom prst="straightConnector1">
            <a:avLst/>
          </a:prstGeom>
          <a:noFill/>
          <a:ln cap="flat" cmpd="sng" w="9525">
            <a:solidFill>
              <a:schemeClr val="dk2"/>
            </a:solidFill>
            <a:prstDash val="solid"/>
            <a:round/>
            <a:headEnd len="med" w="med" type="none"/>
            <a:tailEnd len="med" w="med" type="stealth"/>
          </a:ln>
        </p:spPr>
      </p:cxnSp>
      <p:cxnSp>
        <p:nvCxnSpPr>
          <p:cNvPr id="123" name="Google Shape;123;p20"/>
          <p:cNvCxnSpPr>
            <a:stCxn id="118" idx="2"/>
            <a:endCxn id="124" idx="0"/>
          </p:cNvCxnSpPr>
          <p:nvPr/>
        </p:nvCxnSpPr>
        <p:spPr>
          <a:xfrm>
            <a:off x="8047575" y="3590475"/>
            <a:ext cx="360300" cy="513600"/>
          </a:xfrm>
          <a:prstGeom prst="straightConnector1">
            <a:avLst/>
          </a:prstGeom>
          <a:noFill/>
          <a:ln cap="flat" cmpd="sng" w="9525">
            <a:solidFill>
              <a:schemeClr val="dk2"/>
            </a:solidFill>
            <a:prstDash val="solid"/>
            <a:round/>
            <a:headEnd len="med" w="med" type="none"/>
            <a:tailEnd len="med" w="med" type="stealth"/>
          </a:ln>
        </p:spPr>
      </p:cxnSp>
      <p:sp>
        <p:nvSpPr>
          <p:cNvPr id="124" name="Google Shape;124;p20"/>
          <p:cNvSpPr txBox="1"/>
          <p:nvPr/>
        </p:nvSpPr>
        <p:spPr>
          <a:xfrm>
            <a:off x="7917913" y="4104075"/>
            <a:ext cx="9798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 sz="1200">
                <a:solidFill>
                  <a:schemeClr val="dk2"/>
                </a:solidFill>
              </a:rPr>
              <a:t>F1 Score</a:t>
            </a:r>
            <a:endParaRPr sz="1200">
              <a:solidFill>
                <a:schemeClr val="dk2"/>
              </a:solidFill>
            </a:endParaRPr>
          </a:p>
        </p:txBody>
      </p:sp>
      <p:sp>
        <p:nvSpPr>
          <p:cNvPr id="125" name="Google Shape;125;p20"/>
          <p:cNvSpPr txBox="1"/>
          <p:nvPr/>
        </p:nvSpPr>
        <p:spPr>
          <a:xfrm>
            <a:off x="4964213" y="1586188"/>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6AA84F"/>
                </a:solidFill>
              </a:rPr>
              <a:t>Buy</a:t>
            </a:r>
            <a:endParaRPr b="1" sz="1700">
              <a:solidFill>
                <a:srgbClr val="6AA84F"/>
              </a:solidFill>
            </a:endParaRPr>
          </a:p>
        </p:txBody>
      </p:sp>
      <p:sp>
        <p:nvSpPr>
          <p:cNvPr id="126" name="Google Shape;126;p20"/>
          <p:cNvSpPr txBox="1"/>
          <p:nvPr/>
        </p:nvSpPr>
        <p:spPr>
          <a:xfrm>
            <a:off x="4964213" y="2682188"/>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DD7E6B"/>
                </a:solidFill>
              </a:rPr>
              <a:t>Sell</a:t>
            </a:r>
            <a:endParaRPr b="1" sz="1700">
              <a:solidFill>
                <a:srgbClr val="DD7E6B"/>
              </a:solidFill>
            </a:endParaRPr>
          </a:p>
        </p:txBody>
      </p:sp>
      <p:sp>
        <p:nvSpPr>
          <p:cNvPr id="127" name="Google Shape;127;p20"/>
          <p:cNvSpPr txBox="1"/>
          <p:nvPr/>
        </p:nvSpPr>
        <p:spPr>
          <a:xfrm>
            <a:off x="4964213" y="3778175"/>
            <a:ext cx="833700" cy="4464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700">
                <a:solidFill>
                  <a:srgbClr val="828282"/>
                </a:solidFill>
              </a:rPr>
              <a:t>Hold</a:t>
            </a:r>
            <a:endParaRPr b="1" sz="1700">
              <a:solidFill>
                <a:srgbClr val="82828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Dataset</a:t>
            </a:r>
            <a:endParaRPr/>
          </a:p>
        </p:txBody>
      </p:sp>
      <p:sp>
        <p:nvSpPr>
          <p:cNvPr id="133" name="Google Shape;133;p21"/>
          <p:cNvSpPr/>
          <p:nvPr>
            <p:ph idx="2" type="chart"/>
          </p:nvPr>
        </p:nvSpPr>
        <p:spPr>
          <a:xfrm>
            <a:off x="1731175" y="1436950"/>
            <a:ext cx="7033200" cy="810600"/>
          </a:xfrm>
          <a:prstGeom prst="rect">
            <a:avLst/>
          </a:prstGeom>
          <a:noFill/>
          <a:ln>
            <a:noFill/>
          </a:ln>
        </p:spPr>
        <p:txBody>
          <a:bodyPr anchorCtr="0" anchor="t" bIns="34275" lIns="34275" spcFirstLastPara="1" rIns="34275" wrap="square" tIns="34275">
            <a:noAutofit/>
          </a:bodyPr>
          <a:lstStyle/>
          <a:p>
            <a:pPr indent="0" lvl="0" marL="0" rtl="0" algn="l">
              <a:lnSpc>
                <a:spcPct val="115000"/>
              </a:lnSpc>
              <a:spcBef>
                <a:spcPts val="1200"/>
              </a:spcBef>
              <a:spcAft>
                <a:spcPts val="1200"/>
              </a:spcAft>
              <a:buNone/>
            </a:pPr>
            <a:r>
              <a:rPr lang="en" sz="1800">
                <a:solidFill>
                  <a:srgbClr val="000000"/>
                </a:solidFill>
              </a:rPr>
              <a:t>For the purpose of running the experiments, we make use of </a:t>
            </a:r>
            <a:r>
              <a:rPr b="1" i="1" lang="en" sz="1800">
                <a:solidFill>
                  <a:srgbClr val="000000"/>
                </a:solidFill>
                <a:latin typeface="Open Sans"/>
                <a:ea typeface="Open Sans"/>
                <a:cs typeface="Open Sans"/>
                <a:sym typeface="Open Sans"/>
              </a:rPr>
              <a:t>fingpt-forecaster-dow30</a:t>
            </a:r>
            <a:endParaRPr b="1" i="1" sz="1800">
              <a:latin typeface="Open Sans"/>
              <a:ea typeface="Open Sans"/>
              <a:cs typeface="Open Sans"/>
              <a:sym typeface="Open Sans"/>
            </a:endParaRPr>
          </a:p>
        </p:txBody>
      </p:sp>
      <p:sp>
        <p:nvSpPr>
          <p:cNvPr id="134" name="Google Shape;134;p21"/>
          <p:cNvSpPr txBox="1"/>
          <p:nvPr/>
        </p:nvSpPr>
        <p:spPr>
          <a:xfrm>
            <a:off x="1731175" y="2247550"/>
            <a:ext cx="69318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rPr>
              <a:t>[INST]&lt;&lt;SYS&gt;&gt;</a:t>
            </a:r>
            <a:endParaRPr sz="1100">
              <a:solidFill>
                <a:srgbClr val="666666"/>
              </a:solidFill>
            </a:endParaRPr>
          </a:p>
          <a:p>
            <a:pPr indent="0" lvl="0" marL="0" rtl="0" algn="l">
              <a:spcBef>
                <a:spcPts val="0"/>
              </a:spcBef>
              <a:spcAft>
                <a:spcPts val="0"/>
              </a:spcAft>
              <a:buNone/>
            </a:pPr>
            <a:r>
              <a:rPr lang="en" sz="1100">
                <a:solidFill>
                  <a:srgbClr val="666666"/>
                </a:solidFill>
              </a:rPr>
              <a:t>You are a seasoned stock market analyst. Your task is to list the positive developments and potential concerns for companies based on relevant news and basic financials from the past weeks, then provide an ...</a:t>
            </a:r>
            <a:endParaRPr sz="1100">
              <a:solidFill>
                <a:srgbClr val="666666"/>
              </a:solidFill>
            </a:endParaRPr>
          </a:p>
          <a:p>
            <a:pPr indent="0" lvl="0" marL="0" rtl="0" algn="l">
              <a:spcBef>
                <a:spcPts val="0"/>
              </a:spcBef>
              <a:spcAft>
                <a:spcPts val="0"/>
              </a:spcAft>
              <a:buNone/>
            </a:pPr>
            <a:r>
              <a:rPr lang="en" sz="1100">
                <a:solidFill>
                  <a:srgbClr val="666666"/>
                </a:solidFill>
              </a:rPr>
              <a:t>&lt;&lt;/SYS&gt;&gt;</a:t>
            </a:r>
            <a:endParaRPr sz="1100">
              <a:solidFill>
                <a:srgbClr val="666666"/>
              </a:solidFill>
            </a:endParaRPr>
          </a:p>
          <a:p>
            <a:pPr indent="0" lvl="0" marL="0" rtl="0" algn="l">
              <a:spcBef>
                <a:spcPts val="0"/>
              </a:spcBef>
              <a:spcAft>
                <a:spcPts val="0"/>
              </a:spcAft>
              <a:buNone/>
            </a:pPr>
            <a:r>
              <a:rPr lang="en" sz="1100">
                <a:solidFill>
                  <a:srgbClr val="666666"/>
                </a:solidFill>
              </a:rPr>
              <a:t>[Company Introduction]:</a:t>
            </a:r>
            <a:endParaRPr sz="1100">
              <a:solidFill>
                <a:srgbClr val="666666"/>
              </a:solidFill>
            </a:endParaRPr>
          </a:p>
          <a:p>
            <a:pPr indent="0" lvl="0" marL="0" rtl="0" algn="l">
              <a:spcBef>
                <a:spcPts val="0"/>
              </a:spcBef>
              <a:spcAft>
                <a:spcPts val="0"/>
              </a:spcAft>
              <a:buNone/>
            </a:pPr>
            <a:r>
              <a:rPr lang="en" sz="1100">
                <a:solidFill>
                  <a:srgbClr val="666666"/>
                </a:solidFill>
              </a:rPr>
              <a:t>American Express Co is a ...</a:t>
            </a:r>
            <a:endParaRPr sz="1100">
              <a:solidFill>
                <a:srgbClr val="666666"/>
              </a:solidFill>
            </a:endParaRPr>
          </a:p>
          <a:p>
            <a:pPr indent="0" lvl="0" marL="0" rtl="0" algn="l">
              <a:spcBef>
                <a:spcPts val="0"/>
              </a:spcBef>
              <a:spcAft>
                <a:spcPts val="0"/>
              </a:spcAft>
              <a:buNone/>
            </a:pPr>
            <a:r>
              <a:rPr lang="en" sz="1100">
                <a:solidFill>
                  <a:srgbClr val="666666"/>
                </a:solidFill>
              </a:rPr>
              <a:t>From 2023-05-07 to 2023-05-14, AXP's stock price decreased from 150.55 to 145.90. News during this period are listed below:</a:t>
            </a:r>
            <a:endParaRPr sz="1100">
              <a:solidFill>
                <a:srgbClr val="666666"/>
              </a:solidFill>
            </a:endParaRPr>
          </a:p>
          <a:p>
            <a:pPr indent="0" lvl="0" marL="0" rtl="0" algn="l">
              <a:spcBef>
                <a:spcPts val="0"/>
              </a:spcBef>
              <a:spcAft>
                <a:spcPts val="0"/>
              </a:spcAft>
              <a:buNone/>
            </a:pPr>
            <a:r>
              <a:rPr lang="en" sz="1100">
                <a:solidFill>
                  <a:srgbClr val="666666"/>
                </a:solidFill>
              </a:rPr>
              <a:t>[Headline]: Credit cards: issuers could use their own flexible friends</a:t>
            </a:r>
            <a:endParaRPr sz="1100">
              <a:solidFill>
                <a:srgbClr val="666666"/>
              </a:solidFill>
            </a:endParaRPr>
          </a:p>
          <a:p>
            <a:pPr indent="0" lvl="0" marL="0" rtl="0" algn="l">
              <a:spcBef>
                <a:spcPts val="0"/>
              </a:spcBef>
              <a:spcAft>
                <a:spcPts val="0"/>
              </a:spcAft>
              <a:buNone/>
            </a:pPr>
            <a:r>
              <a:rPr lang="en" sz="1100">
                <a:solidFill>
                  <a:srgbClr val="666666"/>
                </a:solidFill>
              </a:rPr>
              <a:t>[Summary]: Concerns ...</a:t>
            </a:r>
            <a:endParaRPr sz="1100">
              <a:solidFill>
                <a:srgbClr val="666666"/>
              </a:solidFill>
            </a:endParaRPr>
          </a:p>
          <a:p>
            <a:pPr indent="0" lvl="0" marL="0" rtl="0" algn="l">
              <a:spcBef>
                <a:spcPts val="0"/>
              </a:spcBef>
              <a:spcAft>
                <a:spcPts val="0"/>
              </a:spcAft>
              <a:buNone/>
            </a:pPr>
            <a:r>
              <a:rPr lang="en" sz="1100">
                <a:solidFill>
                  <a:srgbClr val="666666"/>
                </a:solidFill>
              </a:rPr>
              <a:t>Some recent basic financials of AXP, reported at 2023-03-31, are presented below:</a:t>
            </a:r>
            <a:endParaRPr sz="1100">
              <a:solidFill>
                <a:srgbClr val="666666"/>
              </a:solidFill>
            </a:endParaRPr>
          </a:p>
          <a:p>
            <a:pPr indent="0" lvl="0" marL="0" rtl="0" algn="l">
              <a:spcBef>
                <a:spcPts val="0"/>
              </a:spcBef>
              <a:spcAft>
                <a:spcPts val="0"/>
              </a:spcAft>
              <a:buNone/>
            </a:pPr>
            <a:r>
              <a:rPr lang="en" sz="1100">
                <a:solidFill>
                  <a:srgbClr val="666666"/>
                </a:solidFill>
              </a:rPr>
              <a:t>[Basic Financials]:</a:t>
            </a:r>
            <a:endParaRPr sz="1100">
              <a:solidFill>
                <a:srgbClr val="666666"/>
              </a:solidFill>
            </a:endParaRPr>
          </a:p>
          <a:p>
            <a:pPr indent="0" lvl="0" marL="0" rtl="0" algn="l">
              <a:spcBef>
                <a:spcPts val="0"/>
              </a:spcBef>
              <a:spcAft>
                <a:spcPts val="0"/>
              </a:spcAft>
              <a:buNone/>
            </a:pPr>
            <a:r>
              <a:rPr lang="en" sz="1100">
                <a:solidFill>
                  <a:srgbClr val="666666"/>
                </a:solidFill>
              </a:rPr>
              <a:t>assetTurnoverTTM: 0.2614</a:t>
            </a:r>
            <a:endParaRPr sz="1100">
              <a:solidFill>
                <a:srgbClr val="666666"/>
              </a:solidFill>
            </a:endParaRPr>
          </a:p>
          <a:p>
            <a:pPr indent="0" lvl="0" marL="0" rtl="0" algn="l">
              <a:spcBef>
                <a:spcPts val="0"/>
              </a:spcBef>
              <a:spcAft>
                <a:spcPts val="0"/>
              </a:spcAft>
              <a:buNone/>
            </a:pPr>
            <a:r>
              <a:rPr lang="en" sz="1100">
                <a:solidFill>
                  <a:srgbClr val="666666"/>
                </a:solidFill>
              </a:rPr>
              <a:t>...</a:t>
            </a:r>
            <a:endParaRPr sz="1100">
              <a:solidFill>
                <a:srgbClr val="666666"/>
              </a:solidFill>
            </a:endParaRPr>
          </a:p>
          <a:p>
            <a:pPr indent="0" lvl="0" marL="0" rtl="0" algn="l">
              <a:spcBef>
                <a:spcPts val="0"/>
              </a:spcBef>
              <a:spcAft>
                <a:spcPts val="0"/>
              </a:spcAft>
              <a:buNone/>
            </a:pPr>
            <a:r>
              <a:rPr lang="en" sz="1100">
                <a:solidFill>
                  <a:srgbClr val="666666"/>
                </a:solidFill>
              </a:rPr>
              <a:t>[/INST]</a:t>
            </a:r>
            <a:endParaRPr sz="1100">
              <a:solidFill>
                <a:srgbClr val="6666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idx="1" type="body"/>
          </p:nvPr>
        </p:nvSpPr>
        <p:spPr>
          <a:xfrm>
            <a:off x="1788094" y="585281"/>
            <a:ext cx="6874800" cy="484800"/>
          </a:xfrm>
          <a:prstGeom prst="rect">
            <a:avLst/>
          </a:prstGeom>
          <a:noFill/>
          <a:ln>
            <a:noFill/>
          </a:ln>
        </p:spPr>
        <p:txBody>
          <a:bodyPr anchorCtr="0" anchor="ctr" bIns="34275" lIns="34275" spcFirstLastPara="1" rIns="34275" wrap="square" tIns="34275">
            <a:normAutofit/>
          </a:bodyPr>
          <a:lstStyle/>
          <a:p>
            <a:pPr indent="0" lvl="0" marL="0" rtl="0" algn="l">
              <a:lnSpc>
                <a:spcPct val="90000"/>
              </a:lnSpc>
              <a:spcBef>
                <a:spcPts val="0"/>
              </a:spcBef>
              <a:spcAft>
                <a:spcPts val="0"/>
              </a:spcAft>
              <a:buClr>
                <a:srgbClr val="5D5D5D"/>
              </a:buClr>
              <a:buSzPts val="2700"/>
              <a:buNone/>
            </a:pPr>
            <a:r>
              <a:rPr lang="en"/>
              <a:t>Experiments</a:t>
            </a:r>
            <a:endParaRPr/>
          </a:p>
        </p:txBody>
      </p:sp>
      <p:pic>
        <p:nvPicPr>
          <p:cNvPr id="140" name="Google Shape;140;p22"/>
          <p:cNvPicPr preferRelativeResize="0"/>
          <p:nvPr/>
        </p:nvPicPr>
        <p:blipFill rotWithShape="1">
          <a:blip r:embed="rId3">
            <a:alphaModFix/>
          </a:blip>
          <a:srcRect b="0" l="0" r="10626" t="0"/>
          <a:stretch/>
        </p:blipFill>
        <p:spPr>
          <a:xfrm>
            <a:off x="1788100" y="1280413"/>
            <a:ext cx="2129874" cy="717100"/>
          </a:xfrm>
          <a:prstGeom prst="rect">
            <a:avLst/>
          </a:prstGeom>
          <a:noFill/>
          <a:ln>
            <a:noFill/>
          </a:ln>
        </p:spPr>
      </p:pic>
      <p:pic>
        <p:nvPicPr>
          <p:cNvPr id="141" name="Google Shape;141;p22"/>
          <p:cNvPicPr preferRelativeResize="0"/>
          <p:nvPr/>
        </p:nvPicPr>
        <p:blipFill rotWithShape="1">
          <a:blip r:embed="rId4">
            <a:alphaModFix/>
          </a:blip>
          <a:srcRect b="28395" l="0" r="0" t="29305"/>
          <a:stretch/>
        </p:blipFill>
        <p:spPr>
          <a:xfrm>
            <a:off x="5626275" y="1280425"/>
            <a:ext cx="3036624" cy="838049"/>
          </a:xfrm>
          <a:prstGeom prst="rect">
            <a:avLst/>
          </a:prstGeom>
          <a:noFill/>
          <a:ln>
            <a:noFill/>
          </a:ln>
        </p:spPr>
      </p:pic>
      <p:sp>
        <p:nvSpPr>
          <p:cNvPr id="142" name="Google Shape;142;p22"/>
          <p:cNvSpPr txBox="1"/>
          <p:nvPr/>
        </p:nvSpPr>
        <p:spPr>
          <a:xfrm>
            <a:off x="2644125" y="1742338"/>
            <a:ext cx="10491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Math 7B</a:t>
            </a:r>
            <a:endParaRPr sz="1800">
              <a:solidFill>
                <a:schemeClr val="dk2"/>
              </a:solidFill>
            </a:endParaRPr>
          </a:p>
        </p:txBody>
      </p:sp>
      <p:sp>
        <p:nvSpPr>
          <p:cNvPr id="143" name="Google Shape;143;p22"/>
          <p:cNvSpPr txBox="1"/>
          <p:nvPr/>
        </p:nvSpPr>
        <p:spPr>
          <a:xfrm>
            <a:off x="6527300" y="1802825"/>
            <a:ext cx="18846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Math 7B Instruct</a:t>
            </a:r>
            <a:endParaRPr sz="1800">
              <a:solidFill>
                <a:schemeClr val="dk2"/>
              </a:solidFill>
            </a:endParaRPr>
          </a:p>
        </p:txBody>
      </p:sp>
      <p:pic>
        <p:nvPicPr>
          <p:cNvPr id="144" name="Google Shape;144;p22"/>
          <p:cNvPicPr preferRelativeResize="0"/>
          <p:nvPr/>
        </p:nvPicPr>
        <p:blipFill rotWithShape="1">
          <a:blip r:embed="rId5">
            <a:alphaModFix/>
          </a:blip>
          <a:srcRect b="4885" l="11023" r="11403" t="18297"/>
          <a:stretch/>
        </p:blipFill>
        <p:spPr>
          <a:xfrm>
            <a:off x="2704800" y="2185800"/>
            <a:ext cx="4800000" cy="2594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 type="body"/>
          </p:nvPr>
        </p:nvSpPr>
        <p:spPr>
          <a:xfrm>
            <a:off x="980376" y="585275"/>
            <a:ext cx="7682400" cy="484800"/>
          </a:xfrm>
          <a:prstGeom prst="rect">
            <a:avLst/>
          </a:prstGeom>
          <a:noFill/>
          <a:ln>
            <a:noFill/>
          </a:ln>
        </p:spPr>
        <p:txBody>
          <a:bodyPr anchorCtr="0" anchor="ctr" bIns="34275" lIns="34275" spcFirstLastPara="1" rIns="34275" wrap="square" tIns="34275">
            <a:normAutofit/>
          </a:bodyPr>
          <a:lstStyle/>
          <a:p>
            <a:pPr indent="0" lvl="0" marL="0" rtl="0" algn="ctr">
              <a:lnSpc>
                <a:spcPct val="90000"/>
              </a:lnSpc>
              <a:spcBef>
                <a:spcPts val="0"/>
              </a:spcBef>
              <a:spcAft>
                <a:spcPts val="0"/>
              </a:spcAft>
              <a:buClr>
                <a:srgbClr val="5D5D5D"/>
              </a:buClr>
              <a:buSzPts val="2700"/>
              <a:buNone/>
            </a:pPr>
            <a:r>
              <a:rPr lang="en"/>
              <a:t>Results</a:t>
            </a:r>
            <a:endParaRPr/>
          </a:p>
        </p:txBody>
      </p:sp>
      <p:sp>
        <p:nvSpPr>
          <p:cNvPr id="150" name="Google Shape;150;p23"/>
          <p:cNvSpPr txBox="1"/>
          <p:nvPr/>
        </p:nvSpPr>
        <p:spPr>
          <a:xfrm>
            <a:off x="1669775" y="3976025"/>
            <a:ext cx="22005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In Context Learning</a:t>
            </a:r>
            <a:endParaRPr b="1" sz="1800">
              <a:solidFill>
                <a:schemeClr val="dk2"/>
              </a:solidFill>
            </a:endParaRPr>
          </a:p>
        </p:txBody>
      </p:sp>
      <p:pic>
        <p:nvPicPr>
          <p:cNvPr id="151" name="Google Shape;151;p23"/>
          <p:cNvPicPr preferRelativeResize="0"/>
          <p:nvPr/>
        </p:nvPicPr>
        <p:blipFill>
          <a:blip r:embed="rId3">
            <a:alphaModFix/>
          </a:blip>
          <a:stretch>
            <a:fillRect/>
          </a:stretch>
        </p:blipFill>
        <p:spPr>
          <a:xfrm>
            <a:off x="1023741" y="1440150"/>
            <a:ext cx="3381166" cy="25358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80376" y="585275"/>
            <a:ext cx="7682400" cy="484800"/>
          </a:xfrm>
          <a:prstGeom prst="rect">
            <a:avLst/>
          </a:prstGeom>
          <a:noFill/>
          <a:ln>
            <a:noFill/>
          </a:ln>
        </p:spPr>
        <p:txBody>
          <a:bodyPr anchorCtr="0" anchor="ctr" bIns="34275" lIns="34275" spcFirstLastPara="1" rIns="34275" wrap="square" tIns="34275">
            <a:normAutofit/>
          </a:bodyPr>
          <a:lstStyle/>
          <a:p>
            <a:pPr indent="0" lvl="0" marL="0" rtl="0" algn="ctr">
              <a:lnSpc>
                <a:spcPct val="90000"/>
              </a:lnSpc>
              <a:spcBef>
                <a:spcPts val="0"/>
              </a:spcBef>
              <a:spcAft>
                <a:spcPts val="0"/>
              </a:spcAft>
              <a:buClr>
                <a:srgbClr val="5D5D5D"/>
              </a:buClr>
              <a:buSzPts val="2700"/>
              <a:buNone/>
            </a:pPr>
            <a:r>
              <a:rPr lang="en"/>
              <a:t>Results</a:t>
            </a:r>
            <a:endParaRPr/>
          </a:p>
        </p:txBody>
      </p:sp>
      <p:pic>
        <p:nvPicPr>
          <p:cNvPr id="157" name="Google Shape;157;p24"/>
          <p:cNvPicPr preferRelativeResize="0"/>
          <p:nvPr/>
        </p:nvPicPr>
        <p:blipFill>
          <a:blip r:embed="rId3">
            <a:alphaModFix/>
          </a:blip>
          <a:stretch>
            <a:fillRect/>
          </a:stretch>
        </p:blipFill>
        <p:spPr>
          <a:xfrm>
            <a:off x="4572000" y="1347849"/>
            <a:ext cx="4348800" cy="2609325"/>
          </a:xfrm>
          <a:prstGeom prst="rect">
            <a:avLst/>
          </a:prstGeom>
          <a:noFill/>
          <a:ln>
            <a:noFill/>
          </a:ln>
        </p:spPr>
      </p:pic>
      <p:sp>
        <p:nvSpPr>
          <p:cNvPr id="158" name="Google Shape;158;p24"/>
          <p:cNvSpPr txBox="1"/>
          <p:nvPr/>
        </p:nvSpPr>
        <p:spPr>
          <a:xfrm>
            <a:off x="5795400" y="3976025"/>
            <a:ext cx="19020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Fine Tuning (FT)</a:t>
            </a:r>
            <a:endParaRPr b="1" sz="1800">
              <a:solidFill>
                <a:schemeClr val="dk2"/>
              </a:solidFill>
            </a:endParaRPr>
          </a:p>
        </p:txBody>
      </p:sp>
      <p:sp>
        <p:nvSpPr>
          <p:cNvPr id="159" name="Google Shape;159;p24"/>
          <p:cNvSpPr txBox="1"/>
          <p:nvPr/>
        </p:nvSpPr>
        <p:spPr>
          <a:xfrm>
            <a:off x="1669775" y="3976025"/>
            <a:ext cx="22005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In Context Learning</a:t>
            </a:r>
            <a:endParaRPr b="1" sz="1800">
              <a:solidFill>
                <a:schemeClr val="dk2"/>
              </a:solidFill>
            </a:endParaRPr>
          </a:p>
        </p:txBody>
      </p:sp>
      <p:pic>
        <p:nvPicPr>
          <p:cNvPr id="160" name="Google Shape;160;p24"/>
          <p:cNvPicPr preferRelativeResize="0"/>
          <p:nvPr/>
        </p:nvPicPr>
        <p:blipFill>
          <a:blip r:embed="rId4">
            <a:alphaModFix/>
          </a:blip>
          <a:stretch>
            <a:fillRect/>
          </a:stretch>
        </p:blipFill>
        <p:spPr>
          <a:xfrm>
            <a:off x="1023741" y="1440150"/>
            <a:ext cx="3381166" cy="2535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 type="body"/>
          </p:nvPr>
        </p:nvSpPr>
        <p:spPr>
          <a:xfrm>
            <a:off x="1031951" y="631700"/>
            <a:ext cx="7621800" cy="484800"/>
          </a:xfrm>
          <a:prstGeom prst="rect">
            <a:avLst/>
          </a:prstGeom>
          <a:noFill/>
          <a:ln>
            <a:noFill/>
          </a:ln>
        </p:spPr>
        <p:txBody>
          <a:bodyPr anchorCtr="0" anchor="ctr" bIns="34275" lIns="34275" spcFirstLastPara="1" rIns="34275" wrap="square" tIns="34275">
            <a:normAutofit/>
          </a:bodyPr>
          <a:lstStyle/>
          <a:p>
            <a:pPr indent="0" lvl="0" marL="0" rtl="0" algn="ctr">
              <a:lnSpc>
                <a:spcPct val="90000"/>
              </a:lnSpc>
              <a:spcBef>
                <a:spcPts val="0"/>
              </a:spcBef>
              <a:spcAft>
                <a:spcPts val="0"/>
              </a:spcAft>
              <a:buClr>
                <a:srgbClr val="5D5D5D"/>
              </a:buClr>
              <a:buSzPts val="2700"/>
              <a:buNone/>
            </a:pPr>
            <a:r>
              <a:rPr lang="en"/>
              <a:t>Results</a:t>
            </a:r>
            <a:endParaRPr/>
          </a:p>
        </p:txBody>
      </p:sp>
      <p:pic>
        <p:nvPicPr>
          <p:cNvPr id="166" name="Google Shape;166;p25"/>
          <p:cNvPicPr preferRelativeResize="0"/>
          <p:nvPr/>
        </p:nvPicPr>
        <p:blipFill>
          <a:blip r:embed="rId3">
            <a:alphaModFix/>
          </a:blip>
          <a:stretch>
            <a:fillRect/>
          </a:stretch>
        </p:blipFill>
        <p:spPr>
          <a:xfrm>
            <a:off x="1031951" y="1543475"/>
            <a:ext cx="4022840" cy="2413699"/>
          </a:xfrm>
          <a:prstGeom prst="rect">
            <a:avLst/>
          </a:prstGeom>
          <a:noFill/>
          <a:ln>
            <a:noFill/>
          </a:ln>
        </p:spPr>
      </p:pic>
      <p:sp>
        <p:nvSpPr>
          <p:cNvPr id="167" name="Google Shape;167;p25"/>
          <p:cNvSpPr txBox="1"/>
          <p:nvPr/>
        </p:nvSpPr>
        <p:spPr>
          <a:xfrm>
            <a:off x="2322475" y="3957175"/>
            <a:ext cx="14418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LoRA Rank</a:t>
            </a:r>
            <a:endParaRPr b="1"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idx="1" type="body"/>
          </p:nvPr>
        </p:nvSpPr>
        <p:spPr>
          <a:xfrm>
            <a:off x="980376" y="585275"/>
            <a:ext cx="7682400" cy="484800"/>
          </a:xfrm>
          <a:prstGeom prst="rect">
            <a:avLst/>
          </a:prstGeom>
          <a:noFill/>
          <a:ln>
            <a:noFill/>
          </a:ln>
        </p:spPr>
        <p:txBody>
          <a:bodyPr anchorCtr="0" anchor="ctr" bIns="34275" lIns="34275" spcFirstLastPara="1" rIns="34275" wrap="square" tIns="34275">
            <a:normAutofit/>
          </a:bodyPr>
          <a:lstStyle/>
          <a:p>
            <a:pPr indent="0" lvl="0" marL="0" rtl="0" algn="ctr">
              <a:lnSpc>
                <a:spcPct val="90000"/>
              </a:lnSpc>
              <a:spcBef>
                <a:spcPts val="0"/>
              </a:spcBef>
              <a:spcAft>
                <a:spcPts val="0"/>
              </a:spcAft>
              <a:buClr>
                <a:srgbClr val="5D5D5D"/>
              </a:buClr>
              <a:buSzPts val="2700"/>
              <a:buNone/>
            </a:pPr>
            <a:r>
              <a:rPr lang="en"/>
              <a:t>Results</a:t>
            </a:r>
            <a:endParaRPr/>
          </a:p>
        </p:txBody>
      </p:sp>
      <p:pic>
        <p:nvPicPr>
          <p:cNvPr id="173" name="Google Shape;173;p26"/>
          <p:cNvPicPr preferRelativeResize="0"/>
          <p:nvPr/>
        </p:nvPicPr>
        <p:blipFill>
          <a:blip r:embed="rId3">
            <a:alphaModFix/>
          </a:blip>
          <a:stretch>
            <a:fillRect/>
          </a:stretch>
        </p:blipFill>
        <p:spPr>
          <a:xfrm>
            <a:off x="5513950" y="1322350"/>
            <a:ext cx="3538200" cy="2653676"/>
          </a:xfrm>
          <a:prstGeom prst="rect">
            <a:avLst/>
          </a:prstGeom>
          <a:noFill/>
          <a:ln>
            <a:noFill/>
          </a:ln>
        </p:spPr>
      </p:pic>
      <p:sp>
        <p:nvSpPr>
          <p:cNvPr id="174" name="Google Shape;174;p26"/>
          <p:cNvSpPr txBox="1"/>
          <p:nvPr/>
        </p:nvSpPr>
        <p:spPr>
          <a:xfrm>
            <a:off x="6006950" y="3957175"/>
            <a:ext cx="28968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Qwen V/s DeepSeek in FT</a:t>
            </a:r>
            <a:endParaRPr b="1" sz="1800">
              <a:solidFill>
                <a:schemeClr val="dk2"/>
              </a:solidFill>
            </a:endParaRPr>
          </a:p>
        </p:txBody>
      </p:sp>
      <p:pic>
        <p:nvPicPr>
          <p:cNvPr id="175" name="Google Shape;175;p26"/>
          <p:cNvPicPr preferRelativeResize="0"/>
          <p:nvPr/>
        </p:nvPicPr>
        <p:blipFill>
          <a:blip r:embed="rId4">
            <a:alphaModFix/>
          </a:blip>
          <a:stretch>
            <a:fillRect/>
          </a:stretch>
        </p:blipFill>
        <p:spPr>
          <a:xfrm>
            <a:off x="1031951" y="1543475"/>
            <a:ext cx="4022840" cy="2413699"/>
          </a:xfrm>
          <a:prstGeom prst="rect">
            <a:avLst/>
          </a:prstGeom>
          <a:noFill/>
          <a:ln>
            <a:noFill/>
          </a:ln>
        </p:spPr>
      </p:pic>
      <p:sp>
        <p:nvSpPr>
          <p:cNvPr id="176" name="Google Shape;176;p26"/>
          <p:cNvSpPr txBox="1"/>
          <p:nvPr/>
        </p:nvSpPr>
        <p:spPr>
          <a:xfrm>
            <a:off x="2322475" y="3957175"/>
            <a:ext cx="14418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LoRA Rank</a:t>
            </a:r>
            <a:endParaRPr b="1"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nvSpPr>
        <p:spPr>
          <a:xfrm>
            <a:off x="2133600" y="1753200"/>
            <a:ext cx="6473100" cy="1885500"/>
          </a:xfrm>
          <a:prstGeom prst="rect">
            <a:avLst/>
          </a:prstGeom>
          <a:noFill/>
          <a:ln>
            <a:noFill/>
          </a:ln>
        </p:spPr>
        <p:txBody>
          <a:bodyPr anchorCtr="0" anchor="t" bIns="45700" lIns="91425" spcFirstLastPara="1" rIns="91425" wrap="square" tIns="45700">
            <a:noAutofit/>
          </a:bodyPr>
          <a:lstStyle/>
          <a:p>
            <a:pPr indent="-3175" lvl="0" marL="3175" marR="0" rtl="0" algn="l">
              <a:lnSpc>
                <a:spcPct val="100000"/>
              </a:lnSpc>
              <a:spcBef>
                <a:spcPts val="0"/>
              </a:spcBef>
              <a:spcAft>
                <a:spcPts val="0"/>
              </a:spcAft>
              <a:buClr>
                <a:srgbClr val="000000"/>
              </a:buClr>
              <a:buSzPts val="4000"/>
              <a:buFont typeface="Arial"/>
              <a:buNone/>
            </a:pPr>
            <a:r>
              <a:rPr lang="en" sz="4000">
                <a:solidFill>
                  <a:schemeClr val="lt1"/>
                </a:solidFill>
                <a:latin typeface="Open Sans"/>
                <a:ea typeface="Open Sans"/>
                <a:cs typeface="Open Sans"/>
                <a:sym typeface="Open Sans"/>
              </a:rPr>
              <a:t>Thank You</a:t>
            </a:r>
            <a:endParaRPr sz="4000">
              <a:solidFill>
                <a:schemeClr val="lt1"/>
              </a:solidFill>
              <a:latin typeface="Open Sans"/>
              <a:ea typeface="Open Sans"/>
              <a:cs typeface="Open Sans"/>
              <a:sym typeface="Open Sans"/>
            </a:endParaRPr>
          </a:p>
          <a:p>
            <a:pPr indent="-3175" lvl="0" marL="3175" marR="0" rtl="0" algn="l">
              <a:lnSpc>
                <a:spcPct val="100000"/>
              </a:lnSpc>
              <a:spcBef>
                <a:spcPts val="0"/>
              </a:spcBef>
              <a:spcAft>
                <a:spcPts val="0"/>
              </a:spcAft>
              <a:buClr>
                <a:srgbClr val="000000"/>
              </a:buClr>
              <a:buSzPts val="4000"/>
              <a:buFont typeface="Arial"/>
              <a:buNone/>
            </a:pPr>
            <a:r>
              <a:rPr lang="en" sz="4000">
                <a:solidFill>
                  <a:schemeClr val="lt1"/>
                </a:solidFill>
                <a:latin typeface="Open Sans"/>
                <a:ea typeface="Open Sans"/>
                <a:cs typeface="Open Sans"/>
                <a:sym typeface="Open Sans"/>
              </a:rPr>
              <a:t>For your Attention</a:t>
            </a:r>
            <a:endParaRPr sz="4000">
              <a:solidFill>
                <a:schemeClr val="lt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